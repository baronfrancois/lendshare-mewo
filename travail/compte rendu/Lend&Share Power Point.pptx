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264" r:id="rId6"/>
    <p:sldId id="265" r:id="rId7"/>
    <p:sldId id="266" r:id="rId8"/>
    <p:sldId id="267" r:id="rId9"/>
    <p:sldId id="268" r:id="rId10"/>
    <p:sldId id="269" r:id="rId11"/>
    <p:sldId id="271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1DF8D-FAB7-48E8-9301-4BBA807D288F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05BE30-4BDA-4C80-8F58-1D6CAB8ED6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7462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5BE30-4BDA-4C80-8F58-1D6CAB8ED6D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5805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74711E-3E5E-4E5A-5621-98F274016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77F4B92-CFA5-A5CB-1EE4-09541E5ACA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A18AFA-C9E1-1666-1B11-FF66A388F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BCE7F-7EDE-44DB-A2D6-453B2595AFD3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F8C628-77AC-31E0-ED4D-D5CEE5148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915C8A-08F2-F60B-152E-5A54722B0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EC0B7-DAC1-4839-ACC3-E6BAD40E52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6367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A6445D-C968-FF94-68ED-B55569073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436E3E-D4CF-02BE-163E-02C0ACA84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C3CCB64-1ADC-F973-0F83-9A09230CB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BCE7F-7EDE-44DB-A2D6-453B2595AFD3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3F6F20-A959-0B60-E532-62EE6E5E3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07B6C9-67A2-1858-4D08-97F81FE30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EC0B7-DAC1-4839-ACC3-E6BAD40E52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1986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087499-2DDC-2BEF-FBD2-89750AB19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06A545C-E32C-157D-208D-FDF65A244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398D3A1-892D-79A7-36C2-5FE4F531A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BCE7F-7EDE-44DB-A2D6-453B2595AFD3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B8D0C7-21C6-BC8E-DF4E-0BB55B36B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DAB8F7-BAFF-35F1-DE23-9E66FAB83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EC0B7-DAC1-4839-ACC3-E6BAD40E52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3751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C3B639-C2CA-2204-A2CB-356EFB4F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F3441A-5B81-EE62-CFEB-CC75F10489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E6B3FFA-0699-A0B1-6A86-8833335ED3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472B47C-BC54-95CF-157D-B2FD3CEC8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BCE7F-7EDE-44DB-A2D6-453B2595AFD3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4D9A890-6665-237F-EB25-98AB5148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3AA80F4-DCE0-04FF-3EC3-F93F47B15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EC0B7-DAC1-4839-ACC3-E6BAD40E52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9985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73C712-3B9D-0B5C-6A4B-02624D3D0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F11A105-71B1-1764-1595-F53CA209A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DF6A701-6252-A5CA-2C74-D40B7FE8C6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F1B67B-919A-E500-5FE1-667685276B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AA974ED-854E-2F09-29A2-F699AAFE96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9CE50D2-BA71-8998-CEBD-1D135DA62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BCE7F-7EDE-44DB-A2D6-453B2595AFD3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831831F-7953-246E-4265-FBC4B0248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A17BE37-983A-4231-2332-07D85829D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EC0B7-DAC1-4839-ACC3-E6BAD40E52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4128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DB931E-CFDB-256A-4EA1-443846049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E97F15B-2426-1571-166E-81A4C7A91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BCE7F-7EDE-44DB-A2D6-453B2595AFD3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A5D74C0-F7B5-2E0A-5C10-C52BABDAF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A29C7D9-C6F4-B081-8BA8-ADBD5C897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EC0B7-DAC1-4839-ACC3-E6BAD40E52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0143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4ADA96C-3B0A-5DFE-6869-1F9C14B42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BCE7F-7EDE-44DB-A2D6-453B2595AFD3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642C251-9D39-EDAD-9F0F-6DE8A2409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C5EE361-F0CD-F6AB-3886-7F4E88670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EC0B7-DAC1-4839-ACC3-E6BAD40E52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9159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731427-4821-2B3D-E743-9CD52ACFA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98BA03-FC03-1525-B741-2C63E01A6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AF88DD8-2A0E-6AFD-B8C6-1CA06EFD5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3B3C171-C491-2CFB-346B-31D3D07C5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BCE7F-7EDE-44DB-A2D6-453B2595AFD3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254E86A-BEAB-6539-893D-C09C85DF6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343DA53-27A2-2C2A-9FF3-8EB052BB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EC0B7-DAC1-4839-ACC3-E6BAD40E52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8252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EF7B1F-B6EA-1FFE-8F06-A32F70991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843EC05-9934-568F-66BF-88F1813E9C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D5BBADE-876A-6F9F-838A-FDA5BBF6E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2387EDA-602E-3510-5600-B004037C0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BCE7F-7EDE-44DB-A2D6-453B2595AFD3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609D773-5707-FB17-7820-61FF697CD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D6738BE-2AEC-CAD9-51AC-D03766010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EC0B7-DAC1-4839-ACC3-E6BAD40E52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8530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AB3B60-88DE-A97B-8CBB-8D127F655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049A261-D81E-C950-BC45-4EC20DB742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AAFC4F-8EB4-10A5-F5E0-CB908C044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BCE7F-7EDE-44DB-A2D6-453B2595AFD3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A7A2E96-AD52-32CC-7ABB-67E978D86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9A866D-8F00-DE29-7B5C-C5C0B0CF3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EC0B7-DAC1-4839-ACC3-E6BAD40E52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2649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4F984F-B096-CE0B-8270-E0702989D5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D77BFFE-160D-8715-F7DC-2712DA0F2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3753F3A-B517-E4E7-7AA0-672B88258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BCE7F-7EDE-44DB-A2D6-453B2595AFD3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B99061-B9C1-73C0-0091-56EAAF34F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9E61C19-FFE4-BD9E-20B3-7E159D596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EC0B7-DAC1-4839-ACC3-E6BAD40E52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982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C121269-5197-B53E-FEE1-6BECDAEEF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586C731-09A4-4B0E-081A-A2668D409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3B054CC-1074-9D90-5CAA-1BA0231993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DBCE7F-7EDE-44DB-A2D6-453B2595AFD3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EF8CC6-5CBC-0596-CF4E-1FE8C30731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DBF5157-6EAF-B535-C38B-4FBEAB8931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7EC0B7-DAC1-4839-ACC3-E6BAD40E52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9599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ous-titre 4">
            <a:extLst>
              <a:ext uri="{FF2B5EF4-FFF2-40B4-BE49-F238E27FC236}">
                <a16:creationId xmlns:a16="http://schemas.microsoft.com/office/drawing/2014/main" id="{61BBE791-5054-12D5-F719-482132AAA3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170810"/>
            <a:ext cx="12192003" cy="389604"/>
          </a:xfrm>
          <a:solidFill>
            <a:schemeClr val="tx2">
              <a:lumMod val="25000"/>
              <a:lumOff val="75000"/>
            </a:schemeClr>
          </a:solidFill>
        </p:spPr>
        <p:txBody>
          <a:bodyPr>
            <a:noAutofit/>
          </a:bodyPr>
          <a:lstStyle/>
          <a:p>
            <a:r>
              <a:rPr lang="fr-FR" b="1" dirty="0">
                <a:solidFill>
                  <a:srgbClr val="0070C0"/>
                </a:solidFill>
              </a:rPr>
              <a:t>François Baron • Emmanuel Langeland  • Jessica Langeland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2234B84-4F51-912E-B3B8-20EE7EE7A6E6}"/>
              </a:ext>
            </a:extLst>
          </p:cNvPr>
          <p:cNvSpPr txBox="1"/>
          <p:nvPr/>
        </p:nvSpPr>
        <p:spPr>
          <a:xfrm>
            <a:off x="5" y="1865560"/>
            <a:ext cx="12191995" cy="46166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effectLst/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rgbClr val="0070C0"/>
                </a:solidFill>
              </a:rPr>
              <a:t>Plateforme de prêt de matériel municipal entre la mairie et les habitants </a:t>
            </a:r>
          </a:p>
        </p:txBody>
      </p:sp>
      <p:sp>
        <p:nvSpPr>
          <p:cNvPr id="12" name="Sous-titre 4">
            <a:extLst>
              <a:ext uri="{FF2B5EF4-FFF2-40B4-BE49-F238E27FC236}">
                <a16:creationId xmlns:a16="http://schemas.microsoft.com/office/drawing/2014/main" id="{26CB7A78-820C-4502-8095-5B968B202388}"/>
              </a:ext>
            </a:extLst>
          </p:cNvPr>
          <p:cNvSpPr txBox="1">
            <a:spLocks/>
          </p:cNvSpPr>
          <p:nvPr/>
        </p:nvSpPr>
        <p:spPr>
          <a:xfrm>
            <a:off x="1" y="125712"/>
            <a:ext cx="12191999" cy="1607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5400" b="1" dirty="0">
                <a:ln/>
                <a:solidFill>
                  <a:srgbClr val="0070C0"/>
                </a:solidFill>
              </a:rPr>
              <a:t>Mairie Pont à Mousson</a:t>
            </a:r>
            <a:br>
              <a:rPr lang="fr-FR" sz="5400" b="1" dirty="0">
                <a:ln/>
                <a:solidFill>
                  <a:srgbClr val="0070C0"/>
                </a:solidFill>
              </a:rPr>
            </a:br>
            <a:r>
              <a:rPr lang="fr-FR" sz="5400" b="1" dirty="0">
                <a:ln/>
                <a:solidFill>
                  <a:srgbClr val="0070C0"/>
                </a:solidFill>
              </a:rPr>
              <a:t>Lend&amp;Share 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AE894EBB-EE45-7E72-7AD4-647BA19E5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571534"/>
            <a:ext cx="12191999" cy="346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586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7E163B7C-4155-D57D-6235-A4FDA83D4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FA363840-9E69-1D08-7044-36F9F725A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578459"/>
              </p:ext>
            </p:extLst>
          </p:nvPr>
        </p:nvGraphicFramePr>
        <p:xfrm>
          <a:off x="914400" y="1977422"/>
          <a:ext cx="10304206" cy="398296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0304206">
                  <a:extLst>
                    <a:ext uri="{9D8B030D-6E8A-4147-A177-3AD203B41FA5}">
                      <a16:colId xmlns:a16="http://schemas.microsoft.com/office/drawing/2014/main" val="2125160456"/>
                    </a:ext>
                  </a:extLst>
                </a:gridCol>
              </a:tblGrid>
              <a:tr h="3982962">
                <a:tc>
                  <a:txBody>
                    <a:bodyPr/>
                    <a:lstStyle/>
                    <a:p>
                      <a:pPr marL="457200" lvl="1" indent="0" algn="just">
                        <a:buFont typeface="Arial" panose="020B0604020202020204" pitchFamily="34" charset="0"/>
                        <a:buNone/>
                      </a:pPr>
                      <a:endParaRPr lang="fr-FR" sz="2000" dirty="0">
                        <a:solidFill>
                          <a:schemeClr val="bg1"/>
                        </a:solidFill>
                        <a:latin typeface="Univers" panose="020B0503020202020204" pitchFamily="34" charset="0"/>
                      </a:endParaRPr>
                    </a:p>
                    <a:p>
                      <a:pPr marL="800100" lvl="1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Service municipal: prêt de matériel pour habitants et associations</a:t>
                      </a:r>
                    </a:p>
                    <a:p>
                      <a:pPr marL="800100" lvl="1" indent="-342900" algn="just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Besoin: plateforme web moderne pour consulter, demander et gérer les prêts</a:t>
                      </a:r>
                    </a:p>
                    <a:p>
                      <a:pPr marL="800100" lvl="1" indent="-342900" algn="just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Objectifs: UI ergonomique + espace d’administration, CRUD objets/prêts</a:t>
                      </a:r>
                    </a:p>
                    <a:p>
                      <a:pPr marL="800100" lvl="1" indent="-342900" algn="just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Front: dynamique (HTML, CSS)</a:t>
                      </a:r>
                    </a:p>
                    <a:p>
                      <a:pPr marL="800100" lvl="1" indent="-342900" algn="just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 err="1">
                          <a:solidFill>
                            <a:schemeClr val="bg1"/>
                          </a:solidFill>
                        </a:rPr>
                        <a:t>Back-end</a:t>
                      </a: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: choix libre (PHP, Javascript)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330774"/>
                  </a:ext>
                </a:extLst>
              </a:tr>
            </a:tbl>
          </a:graphicData>
        </a:graphic>
      </p:graphicFrame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47EA8591-AA3F-E86D-5076-C70EFA8A2C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371006"/>
              </p:ext>
            </p:extLst>
          </p:nvPr>
        </p:nvGraphicFramePr>
        <p:xfrm>
          <a:off x="914400" y="924448"/>
          <a:ext cx="10304206" cy="68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04206">
                  <a:extLst>
                    <a:ext uri="{9D8B030D-6E8A-4147-A177-3AD203B41FA5}">
                      <a16:colId xmlns:a16="http://schemas.microsoft.com/office/drawing/2014/main" val="3055581720"/>
                    </a:ext>
                  </a:extLst>
                </a:gridCol>
              </a:tblGrid>
              <a:tr h="682544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/>
                        <a:t>Contexte et Objectifs</a:t>
                      </a:r>
                      <a:r>
                        <a:rPr lang="fr-FR" sz="2800" dirty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fr-FR" sz="2800" dirty="0">
                        <a:solidFill>
                          <a:schemeClr val="bg1"/>
                        </a:solidFill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720050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140A79E-08A1-A345-D1BF-E5256A494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0705" y="6356350"/>
            <a:ext cx="2391695" cy="365125"/>
          </a:xfrm>
        </p:spPr>
        <p:txBody>
          <a:bodyPr/>
          <a:lstStyle/>
          <a:p>
            <a:fld id="{322541B7-B7CA-4BAE-B630-6D885005AAD0}" type="slidenum">
              <a:rPr lang="fr-FR" b="1" smtClean="0">
                <a:solidFill>
                  <a:schemeClr val="bg1"/>
                </a:solidFill>
              </a:rPr>
              <a:t>2</a:t>
            </a:fld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1362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A4FDC-B078-01B7-E92C-08E0F84FB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05A89F14-F94E-D194-898C-FA26C98B3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BBC39353-3A8F-82EC-A8CC-56BF3A9CD5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811828"/>
              </p:ext>
            </p:extLst>
          </p:nvPr>
        </p:nvGraphicFramePr>
        <p:xfrm>
          <a:off x="914400" y="1977422"/>
          <a:ext cx="10304206" cy="398296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0304206">
                  <a:extLst>
                    <a:ext uri="{9D8B030D-6E8A-4147-A177-3AD203B41FA5}">
                      <a16:colId xmlns:a16="http://schemas.microsoft.com/office/drawing/2014/main" val="2125160456"/>
                    </a:ext>
                  </a:extLst>
                </a:gridCol>
              </a:tblGrid>
              <a:tr h="3982962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fr-FR" sz="2000" dirty="0">
                        <a:latin typeface="Univers" panose="020B0503020202020204" pitchFamily="34" charset="0"/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Utilisateur – Habitants : créer compte, consulter catalogue, demander un prêt, suivre réservations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Administrateur – Mairie : se connecter, gérer objets (CRUD), gérer prêts (valider/refuser/clôturer), retours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Parcours: zone publique (Accueil, Catalogue, Fiche, </a:t>
                      </a:r>
                      <a:r>
                        <a:rPr lang="fr-FR" sz="2000" dirty="0" err="1">
                          <a:solidFill>
                            <a:schemeClr val="bg1"/>
                          </a:solidFill>
                        </a:rPr>
                        <a:t>Auth</a:t>
                      </a: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, Mon compte)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Parcours: espace mairie (Dashboard, Matériel, Prêts)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fr-FR" sz="2000" dirty="0">
                        <a:solidFill>
                          <a:schemeClr val="bg1"/>
                        </a:solidFill>
                        <a:latin typeface="Univers" panose="020B0503020202020204" pitchFamily="34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fr-FR" sz="2000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330774"/>
                  </a:ext>
                </a:extLst>
              </a:tr>
            </a:tbl>
          </a:graphicData>
        </a:graphic>
      </p:graphicFrame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81C3BE05-E050-93D9-F092-A07FF31552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266900"/>
              </p:ext>
            </p:extLst>
          </p:nvPr>
        </p:nvGraphicFramePr>
        <p:xfrm>
          <a:off x="914400" y="924448"/>
          <a:ext cx="10304206" cy="68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04206">
                  <a:extLst>
                    <a:ext uri="{9D8B030D-6E8A-4147-A177-3AD203B41FA5}">
                      <a16:colId xmlns:a16="http://schemas.microsoft.com/office/drawing/2014/main" val="3055581720"/>
                    </a:ext>
                  </a:extLst>
                </a:gridCol>
              </a:tblGrid>
              <a:tr h="682544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/>
                        <a:t>Rôles et Parcours utilisateur</a:t>
                      </a:r>
                      <a:r>
                        <a:rPr lang="fr-FR" sz="2800" dirty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fr-FR" sz="2800" dirty="0">
                        <a:solidFill>
                          <a:schemeClr val="bg1"/>
                        </a:solidFill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720050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F8730A3-E2B7-91B9-1FE7-5D3B1D193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0705" y="6356350"/>
            <a:ext cx="2391695" cy="365125"/>
          </a:xfrm>
        </p:spPr>
        <p:txBody>
          <a:bodyPr/>
          <a:lstStyle/>
          <a:p>
            <a:fld id="{322541B7-B7CA-4BAE-B630-6D885005AAD0}" type="slidenum">
              <a:rPr lang="fr-FR" b="1" smtClean="0">
                <a:solidFill>
                  <a:schemeClr val="bg1"/>
                </a:solidFill>
              </a:rPr>
              <a:t>3</a:t>
            </a:fld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9256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D0C3A-3C7D-7DA3-FEBC-EBC0513A7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BC5B88D8-166C-329B-2F8E-CD7A71ECC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8C8005A5-55B1-37B8-F1A4-2BF38BFF43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387377"/>
              </p:ext>
            </p:extLst>
          </p:nvPr>
        </p:nvGraphicFramePr>
        <p:xfrm>
          <a:off x="914400" y="1977422"/>
          <a:ext cx="10304206" cy="4053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0304206">
                  <a:extLst>
                    <a:ext uri="{9D8B030D-6E8A-4147-A177-3AD203B41FA5}">
                      <a16:colId xmlns:a16="http://schemas.microsoft.com/office/drawing/2014/main" val="2125160456"/>
                    </a:ext>
                  </a:extLst>
                </a:gridCol>
              </a:tblGrid>
              <a:tr h="3982962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fr-FR" sz="2000" dirty="0">
                        <a:solidFill>
                          <a:schemeClr val="bg1"/>
                        </a:solidFill>
                        <a:latin typeface="Univers" panose="020B0503020202020204" pitchFamily="34" charset="0"/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Principes: hiérarchie visuelle, cohérence, accessibilité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Palette: blanc, bleu mairie (#0a57a8), vert validation, rouge erreurs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Polices: Poppins / </a:t>
                      </a:r>
                      <a:r>
                        <a:rPr lang="fr-FR" sz="2000" dirty="0" err="1">
                          <a:solidFill>
                            <a:schemeClr val="bg1"/>
                          </a:solidFill>
                        </a:rPr>
                        <a:t>Roboto</a:t>
                      </a: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 (ou Calibri par défaut)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Icônes: </a:t>
                      </a:r>
                      <a:r>
                        <a:rPr lang="fr-FR" sz="2000" dirty="0" err="1">
                          <a:solidFill>
                            <a:schemeClr val="bg1"/>
                          </a:solidFill>
                        </a:rPr>
                        <a:t>FontAwesome</a:t>
                      </a: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 / </a:t>
                      </a:r>
                      <a:r>
                        <a:rPr lang="fr-FR" sz="2000" dirty="0" err="1">
                          <a:solidFill>
                            <a:schemeClr val="bg1"/>
                          </a:solidFill>
                        </a:rPr>
                        <a:t>Material</a:t>
                      </a: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fr-FR" sz="2000" dirty="0" err="1">
                          <a:solidFill>
                            <a:schemeClr val="bg1"/>
                          </a:solidFill>
                        </a:rPr>
                        <a:t>Icons</a:t>
                      </a: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UI: boutons arrondis, ombres légères, transitions 0.3s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Responsive: </a:t>
                      </a:r>
                      <a:r>
                        <a:rPr lang="fr-FR" sz="2000" dirty="0" err="1">
                          <a:solidFill>
                            <a:schemeClr val="bg1"/>
                          </a:solidFill>
                        </a:rPr>
                        <a:t>Flexbox</a:t>
                      </a: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 / CSS </a:t>
                      </a:r>
                      <a:r>
                        <a:rPr lang="fr-FR" sz="2000" dirty="0" err="1">
                          <a:solidFill>
                            <a:schemeClr val="bg1"/>
                          </a:solidFill>
                        </a:rPr>
                        <a:t>Grid</a:t>
                      </a: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330774"/>
                  </a:ext>
                </a:extLst>
              </a:tr>
            </a:tbl>
          </a:graphicData>
        </a:graphic>
      </p:graphicFrame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6D3B5EF6-C0C0-F784-B75B-017B8D61F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873276"/>
              </p:ext>
            </p:extLst>
          </p:nvPr>
        </p:nvGraphicFramePr>
        <p:xfrm>
          <a:off x="914400" y="924448"/>
          <a:ext cx="10304206" cy="68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04206">
                  <a:extLst>
                    <a:ext uri="{9D8B030D-6E8A-4147-A177-3AD203B41FA5}">
                      <a16:colId xmlns:a16="http://schemas.microsoft.com/office/drawing/2014/main" val="3055581720"/>
                    </a:ext>
                  </a:extLst>
                </a:gridCol>
              </a:tblGrid>
              <a:tr h="682544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/>
                        <a:t>UI / Front-end (ergonomie)</a:t>
                      </a:r>
                      <a:r>
                        <a:rPr lang="fr-FR" sz="2800" dirty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fr-FR" sz="2800" dirty="0">
                        <a:solidFill>
                          <a:schemeClr val="bg1"/>
                        </a:solidFill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720050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DC7C27-06D8-086A-46F7-6D43E6D99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0705" y="6356350"/>
            <a:ext cx="2391695" cy="365125"/>
          </a:xfrm>
        </p:spPr>
        <p:txBody>
          <a:bodyPr/>
          <a:lstStyle/>
          <a:p>
            <a:fld id="{322541B7-B7CA-4BAE-B630-6D885005AAD0}" type="slidenum">
              <a:rPr lang="fr-FR" b="1" smtClean="0">
                <a:solidFill>
                  <a:schemeClr val="bg1"/>
                </a:solidFill>
              </a:rPr>
              <a:t>4</a:t>
            </a:fld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6867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89B50-A1CD-2A77-E317-9AD07BB0A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91E66AE7-8681-085D-2E8D-CDB3AA0D3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A126F8B1-DEA5-3303-A92A-DF9B13340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603485"/>
              </p:ext>
            </p:extLst>
          </p:nvPr>
        </p:nvGraphicFramePr>
        <p:xfrm>
          <a:off x="914400" y="1977422"/>
          <a:ext cx="10304206" cy="3204178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0304206">
                  <a:extLst>
                    <a:ext uri="{9D8B030D-6E8A-4147-A177-3AD203B41FA5}">
                      <a16:colId xmlns:a16="http://schemas.microsoft.com/office/drawing/2014/main" val="2125160456"/>
                    </a:ext>
                  </a:extLst>
                </a:gridCol>
              </a:tblGrid>
              <a:tr h="3204178">
                <a:tc>
                  <a:txBody>
                    <a:bodyPr/>
                    <a:lstStyle/>
                    <a:p>
                      <a:pPr marL="457200" lvl="1" indent="0" algn="ctr">
                        <a:buFont typeface="Arial" panose="020B0604020202020204" pitchFamily="34" charset="0"/>
                        <a:buNone/>
                      </a:pPr>
                      <a:endParaRPr lang="fr-FR" sz="2000" dirty="0">
                        <a:solidFill>
                          <a:schemeClr val="bg1"/>
                        </a:solidFill>
                        <a:latin typeface="Univers" panose="020B0503020202020204" pitchFamily="34" charset="0"/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Accueil: bannière pleine largeur, slogan, CTA « Voir le catalogue »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Catalogue: cartes homogènes (image, titre, statut disponible/prêté)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Fiche produit: grande image, bouton « Faire une demande »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Espace mairie: tableaux lisibles + boutons d’action colorés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330774"/>
                  </a:ext>
                </a:extLst>
              </a:tr>
            </a:tbl>
          </a:graphicData>
        </a:graphic>
      </p:graphicFrame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76E65E99-16AA-DB1E-DED6-96763C6374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13336"/>
              </p:ext>
            </p:extLst>
          </p:nvPr>
        </p:nvGraphicFramePr>
        <p:xfrm>
          <a:off x="914400" y="924448"/>
          <a:ext cx="10304206" cy="68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04206">
                  <a:extLst>
                    <a:ext uri="{9D8B030D-6E8A-4147-A177-3AD203B41FA5}">
                      <a16:colId xmlns:a16="http://schemas.microsoft.com/office/drawing/2014/main" val="3055581720"/>
                    </a:ext>
                  </a:extLst>
                </a:gridCol>
              </a:tblGrid>
              <a:tr h="682544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/>
                        <a:t>Mise en page attendue</a:t>
                      </a:r>
                      <a:endParaRPr lang="fr-FR" sz="2800" dirty="0">
                        <a:solidFill>
                          <a:schemeClr val="bg1"/>
                        </a:solidFill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720050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591929F-C89A-99C0-7D3B-CB63FD750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0705" y="6356350"/>
            <a:ext cx="2391695" cy="365125"/>
          </a:xfrm>
        </p:spPr>
        <p:txBody>
          <a:bodyPr/>
          <a:lstStyle/>
          <a:p>
            <a:fld id="{322541B7-B7CA-4BAE-B630-6D885005AAD0}" type="slidenum">
              <a:rPr lang="fr-FR" b="1" smtClean="0">
                <a:solidFill>
                  <a:schemeClr val="bg1"/>
                </a:solidFill>
              </a:rPr>
              <a:t>5</a:t>
            </a:fld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7574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4673A-0E29-E33E-3C6F-65F69E633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68AFB975-D979-4FF1-62FA-9D97634AC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1DCD9F2A-496D-B72B-3C20-47D07ED19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443766"/>
              </p:ext>
            </p:extLst>
          </p:nvPr>
        </p:nvGraphicFramePr>
        <p:xfrm>
          <a:off x="914400" y="1977422"/>
          <a:ext cx="10304206" cy="34442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0304206">
                  <a:extLst>
                    <a:ext uri="{9D8B030D-6E8A-4147-A177-3AD203B41FA5}">
                      <a16:colId xmlns:a16="http://schemas.microsoft.com/office/drawing/2014/main" val="2125160456"/>
                    </a:ext>
                  </a:extLst>
                </a:gridCol>
              </a:tblGrid>
              <a:tr h="3164849">
                <a:tc>
                  <a:txBody>
                    <a:bodyPr/>
                    <a:lstStyle/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Persistance: JSON / MySQL / SQLite / MongoDB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Sessions utilisateurs (connexion / déconnexion)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API + CRUD complets sur objets et prêts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Méthode: gestion de versions, Kanban/Scrum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Standards: sécurité basique, validation, accessibilité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fr-FR" sz="2000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330774"/>
                  </a:ext>
                </a:extLst>
              </a:tr>
            </a:tbl>
          </a:graphicData>
        </a:graphic>
      </p:graphicFrame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ACFE8451-D888-82AC-0101-C5A28EC278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04046"/>
              </p:ext>
            </p:extLst>
          </p:nvPr>
        </p:nvGraphicFramePr>
        <p:xfrm>
          <a:off x="914400" y="924448"/>
          <a:ext cx="10304206" cy="68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04206">
                  <a:extLst>
                    <a:ext uri="{9D8B030D-6E8A-4147-A177-3AD203B41FA5}">
                      <a16:colId xmlns:a16="http://schemas.microsoft.com/office/drawing/2014/main" val="3055581720"/>
                    </a:ext>
                  </a:extLst>
                </a:gridCol>
              </a:tblGrid>
              <a:tr h="682544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/>
                        <a:t>Backend et Méthode</a:t>
                      </a:r>
                      <a:endParaRPr lang="fr-FR" sz="2800" dirty="0">
                        <a:solidFill>
                          <a:schemeClr val="bg1"/>
                        </a:solidFill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720050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0120308-6908-B01F-59C7-FE86ADC59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0705" y="6356350"/>
            <a:ext cx="2391695" cy="365125"/>
          </a:xfrm>
        </p:spPr>
        <p:txBody>
          <a:bodyPr/>
          <a:lstStyle/>
          <a:p>
            <a:fld id="{322541B7-B7CA-4BAE-B630-6D885005AAD0}" type="slidenum">
              <a:rPr lang="fr-FR" b="1" smtClean="0">
                <a:solidFill>
                  <a:schemeClr val="bg1"/>
                </a:solidFill>
              </a:rPr>
              <a:t>6</a:t>
            </a:fld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7420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10B82-5E31-9F89-4E43-8CC16893C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F32BDA58-D904-C2E6-CAC4-BD17E8129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67247F76-D02E-D637-4074-396FB342A0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602368"/>
              </p:ext>
            </p:extLst>
          </p:nvPr>
        </p:nvGraphicFramePr>
        <p:xfrm>
          <a:off x="914400" y="1977422"/>
          <a:ext cx="10304206" cy="3764617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0304206">
                  <a:extLst>
                    <a:ext uri="{9D8B030D-6E8A-4147-A177-3AD203B41FA5}">
                      <a16:colId xmlns:a16="http://schemas.microsoft.com/office/drawing/2014/main" val="2125160456"/>
                    </a:ext>
                  </a:extLst>
                </a:gridCol>
              </a:tblGrid>
              <a:tr h="3764617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fr-FR" sz="2000" dirty="0">
                        <a:solidFill>
                          <a:schemeClr val="bg1"/>
                        </a:solidFill>
                        <a:latin typeface="Univers" panose="020B0503020202020204" pitchFamily="34" charset="0"/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Code source (ZIP ou GitHub)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Base de données exportée (SQL/JSON)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README: installation, structure, comptes de test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Dossier d’images (libres de droit)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Présentation 10 min + démo complète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330774"/>
                  </a:ext>
                </a:extLst>
              </a:tr>
            </a:tbl>
          </a:graphicData>
        </a:graphic>
      </p:graphicFrame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BD21AC7B-EC9D-215A-F383-BF7CFE7768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186677"/>
              </p:ext>
            </p:extLst>
          </p:nvPr>
        </p:nvGraphicFramePr>
        <p:xfrm>
          <a:off x="914400" y="924448"/>
          <a:ext cx="10304206" cy="68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04206">
                  <a:extLst>
                    <a:ext uri="{9D8B030D-6E8A-4147-A177-3AD203B41FA5}">
                      <a16:colId xmlns:a16="http://schemas.microsoft.com/office/drawing/2014/main" val="3055581720"/>
                    </a:ext>
                  </a:extLst>
                </a:gridCol>
              </a:tblGrid>
              <a:tr h="682544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/>
                        <a:t>Livrables</a:t>
                      </a:r>
                      <a:endParaRPr lang="fr-FR" sz="2800" dirty="0">
                        <a:solidFill>
                          <a:schemeClr val="bg1"/>
                        </a:solidFill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720050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10C4366-B470-7E99-00DF-74F326CF9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0705" y="6356350"/>
            <a:ext cx="2391695" cy="365125"/>
          </a:xfrm>
        </p:spPr>
        <p:txBody>
          <a:bodyPr/>
          <a:lstStyle/>
          <a:p>
            <a:fld id="{322541B7-B7CA-4BAE-B630-6D885005AAD0}" type="slidenum">
              <a:rPr lang="fr-FR" b="1" smtClean="0">
                <a:solidFill>
                  <a:schemeClr val="bg1"/>
                </a:solidFill>
              </a:rPr>
              <a:t>7</a:t>
            </a:fld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0902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06AE-5E15-59ED-8FE0-777BCCE89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2F65D25A-8D7E-6978-F2E1-E96FFD47D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8881502E-B3A9-B231-B2B9-E08B929D82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707748"/>
              </p:ext>
            </p:extLst>
          </p:nvPr>
        </p:nvGraphicFramePr>
        <p:xfrm>
          <a:off x="914400" y="1977422"/>
          <a:ext cx="10304206" cy="395613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0304206">
                  <a:extLst>
                    <a:ext uri="{9D8B030D-6E8A-4147-A177-3AD203B41FA5}">
                      <a16:colId xmlns:a16="http://schemas.microsoft.com/office/drawing/2014/main" val="2125160456"/>
                    </a:ext>
                  </a:extLst>
                </a:gridCol>
              </a:tblGrid>
              <a:tr h="3956130">
                <a:tc>
                  <a:txBody>
                    <a:bodyPr/>
                    <a:lstStyle/>
                    <a:p>
                      <a:pPr marL="800100" lvl="1" indent="-3429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[Lien / URL démo à insérer ici] (QR code possible)</a:t>
                      </a:r>
                    </a:p>
                    <a:p>
                      <a:pPr marL="800100" lvl="1" indent="-3429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Scénarios clés: habitant et mairie</a:t>
                      </a:r>
                    </a:p>
                    <a:p>
                      <a:pPr marL="800100" lvl="1" indent="-3429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Bilan: points forts / difficultés</a:t>
                      </a:r>
                    </a:p>
                    <a:p>
                      <a:pPr marL="800100" lvl="1" indent="-3429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Compétences acquises</a:t>
                      </a:r>
                    </a:p>
                    <a:p>
                      <a:pPr marL="800100" lvl="1" indent="-3429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  <a:p>
                      <a:pPr marL="800100" lvl="1" indent="-3429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2000" dirty="0">
                          <a:solidFill>
                            <a:schemeClr val="bg1"/>
                          </a:solidFill>
                        </a:rPr>
                        <a:t>Pistes d’évolution et roadmap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330774"/>
                  </a:ext>
                </a:extLst>
              </a:tr>
            </a:tbl>
          </a:graphicData>
        </a:graphic>
      </p:graphicFrame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69A47C7E-EDD6-DAA5-62DD-014C6FF312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703184"/>
              </p:ext>
            </p:extLst>
          </p:nvPr>
        </p:nvGraphicFramePr>
        <p:xfrm>
          <a:off x="914400" y="924448"/>
          <a:ext cx="10304206" cy="68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04206">
                  <a:extLst>
                    <a:ext uri="{9D8B030D-6E8A-4147-A177-3AD203B41FA5}">
                      <a16:colId xmlns:a16="http://schemas.microsoft.com/office/drawing/2014/main" val="3055581720"/>
                    </a:ext>
                  </a:extLst>
                </a:gridCol>
              </a:tblGrid>
              <a:tr h="682544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/>
                        <a:t>Démonstration &amp; Conclusion</a:t>
                      </a:r>
                      <a:endParaRPr lang="fr-FR" sz="2800" dirty="0">
                        <a:solidFill>
                          <a:schemeClr val="bg1"/>
                        </a:solidFill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720050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FC77D9B-896A-7786-A41A-F5D243704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0705" y="6356350"/>
            <a:ext cx="2391695" cy="365125"/>
          </a:xfrm>
        </p:spPr>
        <p:txBody>
          <a:bodyPr/>
          <a:lstStyle/>
          <a:p>
            <a:fld id="{322541B7-B7CA-4BAE-B630-6D885005AAD0}" type="slidenum">
              <a:rPr lang="fr-FR" b="1" smtClean="0">
                <a:solidFill>
                  <a:schemeClr val="bg1"/>
                </a:solidFill>
              </a:rPr>
              <a:t>8</a:t>
            </a:fld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540582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A5E74261052049AA7EDA5F2A940CE6" ma:contentTypeVersion="9" ma:contentTypeDescription="Crée un document." ma:contentTypeScope="" ma:versionID="09a2b31e5c9c97240967a8c6b9713d59">
  <xsd:schema xmlns:xsd="http://www.w3.org/2001/XMLSchema" xmlns:xs="http://www.w3.org/2001/XMLSchema" xmlns:p="http://schemas.microsoft.com/office/2006/metadata/properties" xmlns:ns3="f260498e-6587-4ae5-9de7-6244afa4d6d7" targetNamespace="http://schemas.microsoft.com/office/2006/metadata/properties" ma:root="true" ma:fieldsID="24346cebbf32b9fddbe4a9519f724074" ns3:_="">
    <xsd:import namespace="f260498e-6587-4ae5-9de7-6244afa4d6d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60498e-6587-4ae5-9de7-6244afa4d6d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260498e-6587-4ae5-9de7-6244afa4d6d7" xsi:nil="true"/>
  </documentManagement>
</p:properties>
</file>

<file path=customXml/itemProps1.xml><?xml version="1.0" encoding="utf-8"?>
<ds:datastoreItem xmlns:ds="http://schemas.openxmlformats.org/officeDocument/2006/customXml" ds:itemID="{B8604460-A546-47A9-B01D-B1C0AD46AA8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BB0B613-63A7-48E7-A11C-1F048D8D4E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260498e-6587-4ae5-9de7-6244afa4d6d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AAEEFC5-0215-4A78-8AFD-4F8D9C99A662}">
  <ds:schemaRefs>
    <ds:schemaRef ds:uri="http://purl.org/dc/elements/1.1/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f260498e-6587-4ae5-9de7-6244afa4d6d7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392</Words>
  <Application>Microsoft Office PowerPoint</Application>
  <PresentationFormat>Grand écran</PresentationFormat>
  <Paragraphs>85</Paragraphs>
  <Slides>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Univers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Emmanuel LANGELAND</dc:creator>
  <cp:lastModifiedBy>Emmanuel LANGELAND</cp:lastModifiedBy>
  <cp:revision>3</cp:revision>
  <dcterms:created xsi:type="dcterms:W3CDTF">2025-10-29T18:36:13Z</dcterms:created>
  <dcterms:modified xsi:type="dcterms:W3CDTF">2025-10-29T20:49:08Z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0x01010025A5E74261052049AA7EDA5F2A940CE6</vt:lpwstr>
  </property>
</Properties>
</file>